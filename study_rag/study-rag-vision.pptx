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55279" y="320040"/>
            <a:ext cx="3749039" cy="3749039"/>
          </a:xfrm>
          <a:prstGeom prst="ellipse">
            <a:avLst/>
          </a:prstGeom>
          <a:solidFill>
            <a:srgbClr val="1D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868680"/>
            <a:ext cx="2651760" cy="2651760"/>
          </a:xfrm>
          <a:prstGeom prst="ellipse">
            <a:avLst/>
          </a:prstGeom>
          <a:solidFill>
            <a:srgbClr val="101923"/>
          </a:solidFill>
          <a:ln w="15240">
            <a:solidFill>
              <a:srgbClr val="243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1508760"/>
            <a:ext cx="1371600" cy="1371600"/>
          </a:xfrm>
          <a:prstGeom prst="ellipse">
            <a:avLst/>
          </a:prstGeom>
          <a:solidFill>
            <a:srgbClr val="5CE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37192" y="1901952"/>
            <a:ext cx="585216" cy="585216"/>
          </a:xfrm>
          <a:prstGeom prst="ellipse">
            <a:avLst/>
          </a:prstGeom>
          <a:solidFill>
            <a:srgbClr val="10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76656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CE0C1"/>
                </a:solidFill>
                <a:latin typeface="Aptos"/>
              </a:rPr>
              <a:t>A LOCAL-FIRST STUDY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325880"/>
            <a:ext cx="667512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3000"/>
              </a:lnSpc>
              <a:spcAft>
                <a:spcPts val="0"/>
              </a:spcAft>
            </a:pPr>
            <a:r>
              <a:rPr sz="4900" b="1" i="0">
                <a:solidFill>
                  <a:srgbClr val="F5F2EA"/>
                </a:solidFill>
                <a:latin typeface="Aptos Display"/>
              </a:rPr>
              <a:t>STUDY</a:t>
            </a:r>
          </a:p>
          <a:p>
            <a:pPr algn="l">
              <a:lnSpc>
                <a:spcPct val="83000"/>
              </a:lnSpc>
              <a:spcAft>
                <a:spcPts val="0"/>
              </a:spcAft>
            </a:pPr>
            <a:r>
              <a:rPr sz="4900" b="1" i="0">
                <a:solidFill>
                  <a:srgbClr val="F5F2EA"/>
                </a:solidFill>
                <a:latin typeface="Aptos Display"/>
              </a:rPr>
              <a:t>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30752"/>
            <a:ext cx="60350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 i="0">
                <a:solidFill>
                  <a:srgbClr val="D7E0DE"/>
                </a:solidFill>
                <a:latin typeface="Aptos Display"/>
              </a:rPr>
              <a:t>From scattered course files to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0" i="0">
                <a:solidFill>
                  <a:srgbClr val="D7E0DE"/>
                </a:solidFill>
                <a:latin typeface="Aptos Display"/>
              </a:rPr>
              <a:t>traceable answers — including diagrams.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" y="4983480"/>
            <a:ext cx="2148840" cy="347472"/>
          </a:xfrm>
          <a:prstGeom prst="roundRect">
            <a:avLst>
              <a:gd name="adj" fmla="val 12000"/>
            </a:avLst>
          </a:prstGeom>
          <a:solidFill>
            <a:srgbClr val="243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5065776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5CE0C1"/>
                </a:solidFill>
                <a:latin typeface="Aptos"/>
              </a:rPr>
              <a:t>PROJECT VISION  / 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3886200"/>
            <a:ext cx="3200400" cy="1325880"/>
          </a:xfrm>
          <a:prstGeom prst="roundRect">
            <a:avLst>
              <a:gd name="adj" fmla="val 12000"/>
            </a:avLst>
          </a:prstGeom>
          <a:solidFill>
            <a:srgbClr val="1D2D3A"/>
          </a:solidFill>
          <a:ln w="12700">
            <a:solidFill>
              <a:srgbClr val="243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3568" y="4133087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5F2EA"/>
                </a:solidFill>
                <a:latin typeface="Aptos"/>
              </a:rPr>
              <a:t>Evidence, not just answers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3568" y="4526280"/>
            <a:ext cx="2606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91A2AA"/>
                </a:solidFill>
                <a:latin typeface="Aptos"/>
              </a:rPr>
              <a:t>Source · page · passage · figure</a:t>
            </a:r>
          </a:p>
        </p:txBody>
      </p:sp>
      <p:sp>
        <p:nvSpPr>
          <p:cNvPr id="14" name="Oval 13"/>
          <p:cNvSpPr/>
          <p:nvPr/>
        </p:nvSpPr>
        <p:spPr>
          <a:xfrm>
            <a:off x="10287000" y="4224528"/>
            <a:ext cx="310896" cy="310896"/>
          </a:xfrm>
          <a:prstGeom prst="ellipse">
            <a:avLst/>
          </a:prstGeom>
          <a:solidFill>
            <a:srgbClr val="5CE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69296" y="4288536"/>
            <a:ext cx="1828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01923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3568" y="5815584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91A2AA"/>
                </a:solidFill>
                <a:latin typeface="Aptos"/>
              </a:rPr>
              <a:t>A ROADMAP FOR VISUAL DOCUMENT RAG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" y="6473952"/>
            <a:ext cx="10872216" cy="0"/>
          </a:xfrm>
          <a:prstGeom prst="line">
            <a:avLst/>
          </a:prstGeom>
          <a:ln w="8255">
            <a:solidFill>
              <a:srgbClr val="516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67512" y="6528816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91A2AA"/>
                </a:solidFill>
                <a:latin typeface="Aptos"/>
              </a:rPr>
              <a:t>STUDY RAG  /  CONCEPT + ROADMAP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CE0C1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CE0C1"/>
                </a:solidFill>
                <a:latin typeface="Aptos"/>
              </a:rPr>
              <a:t>01  /  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7899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8232B"/>
                </a:solidFill>
                <a:latin typeface="Aptos Display"/>
              </a:rPr>
              <a:t>A page is more than its text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44752"/>
            <a:ext cx="10698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3727A"/>
                </a:solidFill>
                <a:latin typeface="Aptos"/>
              </a:rPr>
              <a:t>Study material carries meaning in labels, layout, tables, and the links between visual elements.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2148840"/>
            <a:ext cx="3977639" cy="374903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423160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63727A"/>
                </a:solidFill>
                <a:latin typeface="Aptos"/>
              </a:rPr>
              <a:t>CELL SIGNALING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70632"/>
            <a:ext cx="3154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8232B"/>
                </a:solidFill>
                <a:latin typeface="Aptos Display"/>
              </a:rPr>
              <a:t>A pathway with a story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3337560"/>
            <a:ext cx="3364992" cy="0"/>
          </a:xfrm>
          <a:prstGeom prst="line">
            <a:avLst/>
          </a:prstGeom>
          <a:ln w="10160">
            <a:solidFill>
              <a:srgbClr val="DE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078992" y="3675887"/>
            <a:ext cx="1042415" cy="566928"/>
          </a:xfrm>
          <a:prstGeom prst="roundRect">
            <a:avLst>
              <a:gd name="adj" fmla="val 12000"/>
            </a:avLst>
          </a:prstGeom>
          <a:solidFill>
            <a:srgbClr val="DC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840480"/>
            <a:ext cx="8961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8232B"/>
                </a:solidFill>
                <a:latin typeface="Aptos"/>
              </a:rPr>
              <a:t>SIGNAL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3675887"/>
            <a:ext cx="1042415" cy="566928"/>
          </a:xfrm>
          <a:prstGeom prst="roundRect">
            <a:avLst>
              <a:gd name="adj" fmla="val 12000"/>
            </a:avLst>
          </a:prstGeom>
          <a:solidFill>
            <a:srgbClr val="FCE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1296" y="3840480"/>
            <a:ext cx="89611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8232B"/>
                </a:solidFill>
                <a:latin typeface="Aptos"/>
              </a:rPr>
              <a:t>RESPONSE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85416" y="3959352"/>
            <a:ext cx="1152144" cy="0"/>
          </a:xfrm>
          <a:prstGeom prst="line">
            <a:avLst/>
          </a:prstGeom>
          <a:ln w="25400">
            <a:solidFill>
              <a:srgbClr val="FF79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587752" y="3831336"/>
            <a:ext cx="274320" cy="274320"/>
          </a:xfrm>
          <a:prstGeom prst="ellipse">
            <a:avLst/>
          </a:prstGeom>
          <a:solidFill>
            <a:srgbClr val="F3C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17136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18232B"/>
                </a:solidFill>
                <a:latin typeface="Aptos"/>
              </a:rPr>
              <a:t>The arrow direction and intermediate step carry the idea — they are not ordinary prose.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5550408"/>
            <a:ext cx="3017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63727A"/>
                </a:solidFill>
                <a:latin typeface="Aptos"/>
              </a:rPr>
              <a:t>ILLUSTRATIVE PAGE — NOT SOURCE MATERIAL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60" y="2148840"/>
            <a:ext cx="6245352" cy="1078992"/>
          </a:xfrm>
          <a:prstGeom prst="roundRect">
            <a:avLst>
              <a:gd name="adj" fmla="val 12000"/>
            </a:avLst>
          </a:prstGeom>
          <a:solidFill>
            <a:srgbClr val="E4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68112" y="2404872"/>
            <a:ext cx="1463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8232B"/>
                </a:solidFill>
                <a:latin typeface="Aptos Display"/>
              </a:rPr>
              <a:t>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395728"/>
            <a:ext cx="43434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63727A"/>
                </a:solidFill>
                <a:latin typeface="Aptos Display"/>
              </a:rPr>
              <a:t>What the page says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6360" y="3456432"/>
            <a:ext cx="6245352" cy="1078992"/>
          </a:xfrm>
          <a:prstGeom prst="roundRect">
            <a:avLst>
              <a:gd name="adj" fmla="val 12000"/>
            </a:avLst>
          </a:prstGeom>
          <a:solidFill>
            <a:srgbClr val="DDE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68112" y="3712463"/>
            <a:ext cx="1463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8232B"/>
                </a:solidFill>
                <a:latin typeface="Aptos Display"/>
              </a:rPr>
              <a:t>LAYOUT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694176"/>
            <a:ext cx="4389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97C6B"/>
                </a:solidFill>
                <a:latin typeface="Aptos Display"/>
              </a:rPr>
              <a:t>How the ideas connect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66360" y="4754880"/>
            <a:ext cx="6245352" cy="1078992"/>
          </a:xfrm>
          <a:prstGeom prst="roundRect">
            <a:avLst>
              <a:gd name="adj" fmla="val 12000"/>
            </a:avLst>
          </a:prstGeom>
          <a:solidFill>
            <a:srgbClr val="F7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68112" y="5010912"/>
            <a:ext cx="1463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8232B"/>
                </a:solidFill>
                <a:latin typeface="Aptos Display"/>
              </a:rPr>
              <a:t>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983480"/>
            <a:ext cx="44805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A35442"/>
                </a:solidFill>
                <a:latin typeface="Aptos Display"/>
              </a:rPr>
              <a:t>Where to verify the answer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6473952"/>
            <a:ext cx="10872216" cy="0"/>
          </a:xfrm>
          <a:prstGeom prst="line">
            <a:avLst/>
          </a:prstGeom>
          <a:ln w="8255">
            <a:solidFill>
              <a:srgbClr val="B6B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67512" y="6528816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63727A"/>
                </a:solidFill>
                <a:latin typeface="Aptos"/>
              </a:rPr>
              <a:t>STUDY RAG  /  CONCEPT + ROADMAP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8232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CE0C1"/>
                </a:solidFill>
                <a:latin typeface="Aptos"/>
              </a:rPr>
              <a:t>02  /  CURRENT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7899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5F2EA"/>
                </a:solidFill>
                <a:latin typeface="Aptos Display"/>
              </a:rPr>
              <a:t>A useful foundation — with a text-shaped 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44752"/>
            <a:ext cx="10698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1A2AA"/>
                </a:solidFill>
                <a:latin typeface="Aptos"/>
              </a:rPr>
              <a:t>The current prototype is intentionally small: local ingestion, persistent vectors, and cited search chunks.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2468880"/>
            <a:ext cx="1783080" cy="1499616"/>
          </a:xfrm>
          <a:prstGeom prst="roundRect">
            <a:avLst>
              <a:gd name="adj" fmla="val 12000"/>
            </a:avLst>
          </a:prstGeom>
          <a:solidFill>
            <a:srgbClr val="1D2D3A"/>
          </a:solidFill>
          <a:ln w="12700">
            <a:solidFill>
              <a:srgbClr val="243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" y="2660904"/>
            <a:ext cx="310896" cy="310896"/>
          </a:xfrm>
          <a:prstGeom prst="ellipse">
            <a:avLst/>
          </a:prstGeom>
          <a:solidFill>
            <a:srgbClr val="82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734056"/>
            <a:ext cx="20116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101923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63824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5F2EA"/>
                </a:solidFill>
                <a:latin typeface="Aptos"/>
              </a:rPr>
              <a:t>COURSE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6557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1A2AA"/>
                </a:solidFill>
                <a:latin typeface="Aptos"/>
              </a:rPr>
              <a:t>PDF · TXT · MD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96896" y="3209544"/>
            <a:ext cx="256032" cy="0"/>
          </a:xfrm>
          <a:prstGeom prst="line">
            <a:avLst/>
          </a:prstGeom>
          <a:ln w="15240">
            <a:solidFill>
              <a:srgbClr val="62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71800" y="2468880"/>
            <a:ext cx="1783080" cy="1499616"/>
          </a:xfrm>
          <a:prstGeom prst="roundRect">
            <a:avLst>
              <a:gd name="adj" fmla="val 12000"/>
            </a:avLst>
          </a:prstGeom>
          <a:solidFill>
            <a:srgbClr val="1D2D3A"/>
          </a:solidFill>
          <a:ln w="12700">
            <a:solidFill>
              <a:srgbClr val="243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27248" y="2660904"/>
            <a:ext cx="310896" cy="310896"/>
          </a:xfrm>
          <a:prstGeom prst="ellipse">
            <a:avLst/>
          </a:prstGeom>
          <a:solidFill>
            <a:srgbClr val="F3C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72968" y="2734056"/>
            <a:ext cx="20116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101923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2" y="3163824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5F2EA"/>
                </a:solidFill>
                <a:latin typeface="Aptos"/>
              </a:rPr>
              <a:t>EXTRACT + CHUNK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346557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1A2AA"/>
                </a:solidFill>
                <a:latin typeface="Aptos"/>
              </a:rPr>
              <a:t>pypdf · ~800 chars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18888" y="3209544"/>
            <a:ext cx="256032" cy="0"/>
          </a:xfrm>
          <a:prstGeom prst="line">
            <a:avLst/>
          </a:prstGeom>
          <a:ln w="15240">
            <a:solidFill>
              <a:srgbClr val="62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93792" y="2468880"/>
            <a:ext cx="1783080" cy="1499616"/>
          </a:xfrm>
          <a:prstGeom prst="roundRect">
            <a:avLst>
              <a:gd name="adj" fmla="val 12000"/>
            </a:avLst>
          </a:prstGeom>
          <a:solidFill>
            <a:srgbClr val="1D2D3A"/>
          </a:solidFill>
          <a:ln w="12700">
            <a:solidFill>
              <a:srgbClr val="243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49240" y="2660904"/>
            <a:ext cx="310896" cy="310896"/>
          </a:xfrm>
          <a:prstGeom prst="ellipse">
            <a:avLst/>
          </a:prstGeom>
          <a:solidFill>
            <a:srgbClr val="5CE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59" y="2734056"/>
            <a:ext cx="20116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101923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8383" y="3163824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5F2EA"/>
                </a:solidFill>
                <a:latin typeface="Aptos"/>
              </a:rPr>
              <a:t>EMBED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3" y="346557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1A2AA"/>
                </a:solidFill>
                <a:latin typeface="Aptos"/>
              </a:rPr>
              <a:t>MiniLM · local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40879" y="3209544"/>
            <a:ext cx="256033" cy="0"/>
          </a:xfrm>
          <a:prstGeom prst="line">
            <a:avLst/>
          </a:prstGeom>
          <a:ln w="15240">
            <a:solidFill>
              <a:srgbClr val="62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15783" y="2468880"/>
            <a:ext cx="1783080" cy="1499616"/>
          </a:xfrm>
          <a:prstGeom prst="roundRect">
            <a:avLst>
              <a:gd name="adj" fmla="val 12000"/>
            </a:avLst>
          </a:prstGeom>
          <a:solidFill>
            <a:srgbClr val="1D2D3A"/>
          </a:solidFill>
          <a:ln w="12700">
            <a:solidFill>
              <a:srgbClr val="243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71231" y="2660904"/>
            <a:ext cx="310896" cy="310896"/>
          </a:xfrm>
          <a:prstGeom prst="ellipse">
            <a:avLst/>
          </a:prstGeom>
          <a:solidFill>
            <a:srgbClr val="FF7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16952" y="2734056"/>
            <a:ext cx="20116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101923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0375" y="3163824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5F2EA"/>
                </a:solidFill>
                <a:latin typeface="Aptos"/>
              </a:rPr>
              <a:t>RETRIEVE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0375" y="346557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1A2AA"/>
                </a:solidFill>
                <a:latin typeface="Aptos"/>
              </a:rPr>
              <a:t>Chroma · top-k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262872" y="3209544"/>
            <a:ext cx="256031" cy="0"/>
          </a:xfrm>
          <a:prstGeom prst="line">
            <a:avLst/>
          </a:prstGeom>
          <a:ln w="15240">
            <a:solidFill>
              <a:srgbClr val="62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637776" y="2468880"/>
            <a:ext cx="1783080" cy="1499616"/>
          </a:xfrm>
          <a:prstGeom prst="roundRect">
            <a:avLst>
              <a:gd name="adj" fmla="val 12000"/>
            </a:avLst>
          </a:prstGeom>
          <a:solidFill>
            <a:srgbClr val="1D2D3A"/>
          </a:solidFill>
          <a:ln w="12700">
            <a:solidFill>
              <a:srgbClr val="243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793224" y="2660904"/>
            <a:ext cx="310896" cy="310896"/>
          </a:xfrm>
          <a:prstGeom prst="ellipse">
            <a:avLst/>
          </a:prstGeom>
          <a:solidFill>
            <a:srgbClr val="82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38944" y="2734056"/>
            <a:ext cx="20116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101923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02367" y="3163824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5F2EA"/>
                </a:solidFill>
                <a:latin typeface="Aptos"/>
              </a:rPr>
              <a:t>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02367" y="346557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1A2AA"/>
                </a:solidFill>
                <a:latin typeface="Aptos"/>
              </a:rPr>
              <a:t>MCP · citations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8" y="4498848"/>
            <a:ext cx="10671048" cy="1124712"/>
          </a:xfrm>
          <a:prstGeom prst="roundRect">
            <a:avLst>
              <a:gd name="adj" fmla="val 12000"/>
            </a:avLst>
          </a:prstGeom>
          <a:solidFill>
            <a:srgbClr val="1A2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4128" y="473659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CE0C1"/>
                </a:solidFill>
                <a:latin typeface="Aptos"/>
              </a:rPr>
              <a:t>WHAT ALREADY WORKS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" y="50749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5F2EA"/>
                </a:solidFill>
                <a:latin typeface="Aptos Display"/>
              </a:rPr>
              <a:t>Simple · local · inspectable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663440" y="4718304"/>
            <a:ext cx="0" cy="676656"/>
          </a:xfrm>
          <a:prstGeom prst="line">
            <a:avLst/>
          </a:prstGeom>
          <a:ln w="11430">
            <a:solidFill>
              <a:srgbClr val="4053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010912" y="473659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F795F"/>
                </a:solidFill>
                <a:latin typeface="Aptos"/>
              </a:rPr>
              <a:t>CURRENT BLIND SPOT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10912" y="507492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5F2EA"/>
                </a:solidFill>
                <a:latin typeface="Aptos Display"/>
              </a:rPr>
              <a:t>The index sees extracted words, not diagram meaning.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58368" y="6473952"/>
            <a:ext cx="10872216" cy="0"/>
          </a:xfrm>
          <a:prstGeom prst="line">
            <a:avLst/>
          </a:prstGeom>
          <a:ln w="8255">
            <a:solidFill>
              <a:srgbClr val="516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67512" y="6528816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91A2AA"/>
                </a:solidFill>
                <a:latin typeface="Aptos"/>
              </a:rPr>
              <a:t>STUDY RAG  /  CONCEPT + ROADMAP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CE0C1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CE0C1"/>
                </a:solidFill>
                <a:latin typeface="Aptos"/>
              </a:rPr>
              <a:t>03  /  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7899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8232B"/>
                </a:solidFill>
                <a:latin typeface="Aptos Display"/>
              </a:rPr>
              <a:t>A diagram query needs more than OCR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44752"/>
            <a:ext cx="10698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3727A"/>
                </a:solidFill>
                <a:latin typeface="Aptos"/>
              </a:rPr>
              <a:t>Labels are clues. The visual relationship between labels can be the answer.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2139696"/>
            <a:ext cx="5065776" cy="3639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239572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A35442"/>
                </a:solidFill>
                <a:latin typeface="Aptos"/>
              </a:rPr>
              <a:t>A FLOWCHART ON THE PAGE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3856" y="3136392"/>
            <a:ext cx="1170432" cy="658368"/>
          </a:xfrm>
          <a:prstGeom prst="roundRect">
            <a:avLst>
              <a:gd name="adj" fmla="val 12000"/>
            </a:avLst>
          </a:prstGeom>
          <a:solidFill>
            <a:srgbClr val="DC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3364992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18232B"/>
                </a:solidFill>
                <a:latin typeface="Aptos"/>
              </a:rPr>
              <a:t>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3136392"/>
            <a:ext cx="1170432" cy="658368"/>
          </a:xfrm>
          <a:prstGeom prst="roundRect">
            <a:avLst>
              <a:gd name="adj" fmla="val 12000"/>
            </a:avLst>
          </a:prstGeom>
          <a:solidFill>
            <a:srgbClr val="F7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62072" y="3364992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18232B"/>
                </a:solidFill>
                <a:latin typeface="Aptos"/>
              </a:rPr>
              <a:t>FILTER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136392"/>
            <a:ext cx="1024128" cy="658368"/>
          </a:xfrm>
          <a:prstGeom prst="roundRect">
            <a:avLst>
              <a:gd name="adj" fmla="val 12000"/>
            </a:avLst>
          </a:prstGeom>
          <a:solidFill>
            <a:srgbClr val="E8E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3364992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18232B"/>
                </a:solidFill>
                <a:latin typeface="Aptos"/>
              </a:rPr>
              <a:t>OUTPUT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40864" y="3465576"/>
            <a:ext cx="347472" cy="0"/>
          </a:xfrm>
          <a:prstGeom prst="line">
            <a:avLst/>
          </a:prstGeom>
          <a:ln w="25400">
            <a:solidFill>
              <a:srgbClr val="FF79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995928" y="3465576"/>
            <a:ext cx="329184" cy="0"/>
          </a:xfrm>
          <a:prstGeom prst="line">
            <a:avLst/>
          </a:prstGeom>
          <a:ln w="25400">
            <a:solidFill>
              <a:srgbClr val="FF79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15568" y="4187952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18232B"/>
                </a:solidFill>
                <a:latin typeface="Aptos"/>
              </a:rPr>
              <a:t>Question: What must happen before output?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18232B"/>
                </a:solidFill>
                <a:latin typeface="Aptos"/>
              </a:rPr>
              <a:t>OCR returns three labels. It may miss the sequence.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5276088"/>
            <a:ext cx="4297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1" i="0">
                <a:solidFill>
                  <a:srgbClr val="63727A"/>
                </a:solidFill>
                <a:latin typeface="Aptos"/>
              </a:rPr>
              <a:t>ILLUSTRATIVE DIAGRAM — NOT SOURCE MATERIAL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139696"/>
            <a:ext cx="5230368" cy="1536192"/>
          </a:xfrm>
          <a:prstGeom prst="roundRect">
            <a:avLst>
              <a:gd name="adj" fmla="val 12000"/>
            </a:avLst>
          </a:prstGeom>
          <a:solidFill>
            <a:srgbClr val="10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41401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3C76A"/>
                </a:solidFill>
                <a:latin typeface="Aptos"/>
              </a:rPr>
              <a:t>TEXT-ONLY HIT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770632"/>
            <a:ext cx="453542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400" b="0" i="0">
                <a:solidFill>
                  <a:srgbClr val="F5F2EA"/>
                </a:solidFill>
                <a:latin typeface="Aptos Display"/>
              </a:rPr>
              <a:t>“Input · Filter · Output”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400" b="0" i="0">
                <a:solidFill>
                  <a:srgbClr val="F5F2EA"/>
                </a:solidFill>
                <a:latin typeface="Aptos Display"/>
              </a:rPr>
              <a:t>Page unknown. Relationship unknown.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13632"/>
            <a:ext cx="5230368" cy="1865376"/>
          </a:xfrm>
          <a:prstGeom prst="roundRect">
            <a:avLst>
              <a:gd name="adj" fmla="val 12000"/>
            </a:avLst>
          </a:prstGeom>
          <a:solidFill>
            <a:srgbClr val="DDE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418795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397C6B"/>
                </a:solidFill>
                <a:latin typeface="Aptos"/>
              </a:rPr>
              <a:t>EVIDENCE-AWARE HIT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4553712"/>
            <a:ext cx="449884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8232B"/>
                </a:solidFill>
                <a:latin typeface="Aptos Display"/>
              </a:rPr>
              <a:t>“Input flows through a filter before producing output.”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5321808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397C6B"/>
                </a:solidFill>
                <a:latin typeface="Aptos"/>
              </a:rPr>
              <a:t>Source PDF  ·  Page 12  ·  Figure 3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" y="6473952"/>
            <a:ext cx="10872216" cy="0"/>
          </a:xfrm>
          <a:prstGeom prst="line">
            <a:avLst/>
          </a:prstGeom>
          <a:ln w="8255">
            <a:solidFill>
              <a:srgbClr val="B6B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67512" y="6528816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63727A"/>
                </a:solidFill>
                <a:latin typeface="Aptos"/>
              </a:rPr>
              <a:t>STUDY RAG  /  CONCEPT + ROADMAP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8232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CE0C1"/>
                </a:solidFill>
                <a:latin typeface="Aptos"/>
              </a:rPr>
              <a:t>04  /  TARGET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7899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5F2EA"/>
                </a:solidFill>
                <a:latin typeface="Aptos Display"/>
              </a:rPr>
              <a:t>One source. Three evidence paths. One citation.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44752"/>
            <a:ext cx="10698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1A2AA"/>
                </a:solidFill>
                <a:latin typeface="Aptos"/>
              </a:rPr>
              <a:t>Structure the document once; retrieve the evidence type that fits the question.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2423160"/>
            <a:ext cx="1874519" cy="1920240"/>
          </a:xfrm>
          <a:prstGeom prst="roundRect">
            <a:avLst>
              <a:gd name="adj" fmla="val 12000"/>
            </a:avLst>
          </a:prstGeom>
          <a:solidFill>
            <a:srgbClr val="1D2D3A"/>
          </a:solidFill>
          <a:ln w="12700">
            <a:solidFill>
              <a:srgbClr val="243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724912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82B6FF"/>
                </a:solidFill>
                <a:latin typeface="Aptos"/>
              </a:rPr>
              <a:t>SOURCE PDF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3163824"/>
            <a:ext cx="1078992" cy="877824"/>
          </a:xfrm>
          <a:prstGeom prst="roundRect">
            <a:avLst>
              <a:gd name="adj" fmla="val 12000"/>
            </a:avLst>
          </a:prstGeom>
          <a:solidFill>
            <a:srgbClr val="293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3401568"/>
            <a:ext cx="7498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100" b="1" i="0">
                <a:solidFill>
                  <a:srgbClr val="F5F2EA"/>
                </a:solidFill>
                <a:latin typeface="Aptos"/>
              </a:rPr>
              <a:t>PAGE</a:t>
            </a:r>
          </a:p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100" b="1" i="0">
                <a:solidFill>
                  <a:srgbClr val="F5F2EA"/>
                </a:solidFill>
                <a:latin typeface="Aptos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096512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1A2AA"/>
                </a:solidFill>
                <a:latin typeface="Aptos"/>
              </a:rPr>
              <a:t>immutable input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97480" y="3383280"/>
            <a:ext cx="539496" cy="0"/>
          </a:xfrm>
          <a:prstGeom prst="line">
            <a:avLst/>
          </a:prstGeom>
          <a:ln w="20320">
            <a:solidFill>
              <a:srgbClr val="5CE0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64992" y="2423160"/>
            <a:ext cx="1938528" cy="1920240"/>
          </a:xfrm>
          <a:prstGeom prst="roundRect">
            <a:avLst>
              <a:gd name="adj" fmla="val 12000"/>
            </a:avLst>
          </a:prstGeom>
          <a:solidFill>
            <a:srgbClr val="20313C"/>
          </a:solidFill>
          <a:ln w="12700">
            <a:solidFill>
              <a:srgbClr val="314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2706624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CE0C1"/>
                </a:solidFill>
                <a:latin typeface="Aptos"/>
              </a:rPr>
              <a:t>PARSE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3090672"/>
            <a:ext cx="1463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F5F2EA"/>
                </a:solidFill>
                <a:latin typeface="Aptos Display"/>
              </a:rPr>
              <a:t>Layout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F5F2EA"/>
                </a:solidFill>
                <a:latin typeface="Aptos Display"/>
              </a:rPr>
              <a:t>OCR · figures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F5F2EA"/>
                </a:solidFill>
                <a:latin typeface="Aptos Display"/>
              </a:rPr>
              <a:t>Page map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94960" y="3383280"/>
            <a:ext cx="502920" cy="0"/>
          </a:xfrm>
          <a:prstGeom prst="line">
            <a:avLst/>
          </a:prstGeom>
          <a:ln w="20320">
            <a:solidFill>
              <a:srgbClr val="5CE0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053328" y="2450592"/>
            <a:ext cx="0" cy="932688"/>
          </a:xfrm>
          <a:prstGeom prst="line">
            <a:avLst/>
          </a:prstGeom>
          <a:ln w="12700">
            <a:solidFill>
              <a:srgbClr val="516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53328" y="2450592"/>
            <a:ext cx="420624" cy="0"/>
          </a:xfrm>
          <a:prstGeom prst="line">
            <a:avLst/>
          </a:prstGeom>
          <a:ln w="12700">
            <a:solidFill>
              <a:srgbClr val="516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53328" y="3383280"/>
            <a:ext cx="420624" cy="0"/>
          </a:xfrm>
          <a:prstGeom prst="line">
            <a:avLst/>
          </a:prstGeom>
          <a:ln w="12700">
            <a:solidFill>
              <a:srgbClr val="516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53328" y="3383280"/>
            <a:ext cx="0" cy="932688"/>
          </a:xfrm>
          <a:prstGeom prst="line">
            <a:avLst/>
          </a:prstGeom>
          <a:ln w="12700">
            <a:solidFill>
              <a:srgbClr val="516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53328" y="4315968"/>
            <a:ext cx="420624" cy="0"/>
          </a:xfrm>
          <a:prstGeom prst="line">
            <a:avLst/>
          </a:prstGeom>
          <a:ln w="12700">
            <a:solidFill>
              <a:srgbClr val="5163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92240" y="2103120"/>
            <a:ext cx="2788920" cy="713232"/>
          </a:xfrm>
          <a:prstGeom prst="roundRect">
            <a:avLst>
              <a:gd name="adj" fmla="val 12000"/>
            </a:avLst>
          </a:prstGeom>
          <a:solidFill>
            <a:srgbClr val="1D2D3A"/>
          </a:solidFill>
          <a:ln w="12700">
            <a:solidFill>
              <a:srgbClr val="243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65976" y="2304288"/>
            <a:ext cx="201168" cy="201168"/>
          </a:xfrm>
          <a:prstGeom prst="ellipse">
            <a:avLst/>
          </a:prstGeom>
          <a:solidFill>
            <a:srgbClr val="82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22592" y="2212848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82B6FF"/>
                </a:solidFill>
                <a:latin typeface="Aptos"/>
              </a:rPr>
              <a:t>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2459736"/>
            <a:ext cx="20848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F5F2EA"/>
                </a:solidFill>
                <a:latin typeface="Aptos"/>
              </a:rPr>
              <a:t>Headings · paragraphs · tables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45168" y="2450591"/>
            <a:ext cx="310896" cy="0"/>
          </a:xfrm>
          <a:prstGeom prst="line">
            <a:avLst/>
          </a:prstGeom>
          <a:ln w="13970">
            <a:solidFill>
              <a:srgbClr val="607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92240" y="3035808"/>
            <a:ext cx="2788920" cy="713232"/>
          </a:xfrm>
          <a:prstGeom prst="roundRect">
            <a:avLst>
              <a:gd name="adj" fmla="val 12000"/>
            </a:avLst>
          </a:prstGeom>
          <a:solidFill>
            <a:srgbClr val="1D2D3A"/>
          </a:solidFill>
          <a:ln w="12700">
            <a:solidFill>
              <a:srgbClr val="243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65976" y="3236976"/>
            <a:ext cx="201168" cy="201168"/>
          </a:xfrm>
          <a:prstGeom prst="ellipse">
            <a:avLst/>
          </a:prstGeom>
          <a:solidFill>
            <a:srgbClr val="F3C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22592" y="3145536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3C76A"/>
                </a:solidFill>
                <a:latin typeface="Aptos"/>
              </a:rPr>
              <a:t>FIGURE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3392424"/>
            <a:ext cx="20848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F5F2EA"/>
                </a:solidFill>
                <a:latin typeface="Aptos"/>
              </a:rPr>
              <a:t>Image · caption · generated description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45168" y="3383279"/>
            <a:ext cx="310896" cy="0"/>
          </a:xfrm>
          <a:prstGeom prst="line">
            <a:avLst/>
          </a:prstGeom>
          <a:ln w="13970">
            <a:solidFill>
              <a:srgbClr val="607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492240" y="3968496"/>
            <a:ext cx="2788920" cy="713232"/>
          </a:xfrm>
          <a:prstGeom prst="roundRect">
            <a:avLst>
              <a:gd name="adj" fmla="val 12000"/>
            </a:avLst>
          </a:prstGeom>
          <a:solidFill>
            <a:srgbClr val="1D2D3A"/>
          </a:solidFill>
          <a:ln w="12700">
            <a:solidFill>
              <a:srgbClr val="243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665976" y="4169663"/>
            <a:ext cx="201168" cy="201168"/>
          </a:xfrm>
          <a:prstGeom prst="ellipse">
            <a:avLst/>
          </a:prstGeom>
          <a:solidFill>
            <a:srgbClr val="FF7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22592" y="4078224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F795F"/>
                </a:solidFill>
                <a:latin typeface="Aptos"/>
              </a:rPr>
              <a:t>PAGE IMAGE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2592" y="4325112"/>
            <a:ext cx="208483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F5F2EA"/>
                </a:solidFill>
                <a:latin typeface="Aptos"/>
              </a:rPr>
              <a:t>Original visual evidence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45168" y="4315968"/>
            <a:ext cx="310896" cy="0"/>
          </a:xfrm>
          <a:prstGeom prst="line">
            <a:avLst/>
          </a:prstGeom>
          <a:ln w="13970">
            <a:solidFill>
              <a:srgbClr val="6072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765792" y="2761488"/>
            <a:ext cx="1664208" cy="1280160"/>
          </a:xfrm>
          <a:prstGeom prst="roundRect">
            <a:avLst>
              <a:gd name="adj" fmla="val 12000"/>
            </a:avLst>
          </a:prstGeom>
          <a:solidFill>
            <a:srgbClr val="DDE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94392" y="301752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397C6B"/>
                </a:solidFill>
                <a:latin typeface="Aptos"/>
              </a:rPr>
              <a:t>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94392" y="3364992"/>
            <a:ext cx="12070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8232B"/>
                </a:solidFill>
                <a:latin typeface="Aptos Display"/>
              </a:rPr>
              <a:t>Answer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8232B"/>
                </a:solidFill>
                <a:latin typeface="Aptos Display"/>
              </a:rPr>
              <a:t>+ page link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64992" y="5239512"/>
            <a:ext cx="8065008" cy="594360"/>
          </a:xfrm>
          <a:prstGeom prst="roundRect">
            <a:avLst>
              <a:gd name="adj" fmla="val 12000"/>
            </a:avLst>
          </a:prstGeom>
          <a:solidFill>
            <a:srgbClr val="1A2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30168" y="5440680"/>
            <a:ext cx="7406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5F2EA"/>
                </a:solidFill>
                <a:latin typeface="Aptos"/>
              </a:rPr>
              <a:t>Every record carries source · page · content type · provenance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58368" y="6473952"/>
            <a:ext cx="10872216" cy="0"/>
          </a:xfrm>
          <a:prstGeom prst="line">
            <a:avLst/>
          </a:prstGeom>
          <a:ln w="8255">
            <a:solidFill>
              <a:srgbClr val="516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67512" y="6528816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91A2AA"/>
                </a:solidFill>
                <a:latin typeface="Aptos"/>
              </a:rPr>
              <a:t>STUDY RAG  /  CONCEPT + ROADMAP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CE0C1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CE0C1"/>
                </a:solidFill>
                <a:latin typeface="Aptos"/>
              </a:rPr>
              <a:t>05  /  DIAGRAMS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7899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8232B"/>
                </a:solidFill>
                <a:latin typeface="Aptos Display"/>
              </a:rPr>
              <a:t>Layer the signals. Keep the image as ground truth.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44752"/>
            <a:ext cx="10698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3727A"/>
                </a:solidFill>
                <a:latin typeface="Aptos"/>
              </a:rPr>
              <a:t>A caption makes a figure searchable; the original page lets a student verify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2322576"/>
            <a:ext cx="3081528" cy="34655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587752"/>
            <a:ext cx="320040" cy="320040"/>
          </a:xfrm>
          <a:prstGeom prst="ellipse">
            <a:avLst/>
          </a:prstGeom>
          <a:solidFill>
            <a:srgbClr val="82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2624328"/>
            <a:ext cx="20391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82B6FF"/>
                </a:solidFill>
                <a:latin typeface="Aptos"/>
              </a:rPr>
              <a:t>01  READ LABELS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2724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8232B"/>
                </a:solidFill>
                <a:latin typeface="Aptos Display"/>
              </a:rPr>
              <a:t>OCR / extracted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8992" y="3639312"/>
            <a:ext cx="987552" cy="530352"/>
          </a:xfrm>
          <a:prstGeom prst="roundRect">
            <a:avLst>
              <a:gd name="adj" fmla="val 12000"/>
            </a:avLst>
          </a:prstGeom>
          <a:solidFill>
            <a:srgbClr val="E9F0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3822191"/>
            <a:ext cx="74980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8232B"/>
                </a:solidFill>
                <a:latin typeface="Aptos"/>
              </a:rPr>
              <a:t>A → 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04288" y="3694176"/>
            <a:ext cx="777239" cy="0"/>
          </a:xfrm>
          <a:prstGeom prst="line">
            <a:avLst/>
          </a:prstGeom>
          <a:ln w="12700">
            <a:solidFill>
              <a:srgbClr val="C9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04288" y="3904487"/>
            <a:ext cx="1005839" cy="0"/>
          </a:xfrm>
          <a:prstGeom prst="line">
            <a:avLst/>
          </a:prstGeom>
          <a:ln w="12700">
            <a:solidFill>
              <a:srgbClr val="C9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4453128"/>
            <a:ext cx="254203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8232B"/>
                </a:solidFill>
                <a:latin typeface="Aptos"/>
              </a:rPr>
              <a:t>Find printed terms and labels.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111496"/>
            <a:ext cx="2578608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63727A"/>
                </a:solidFill>
                <a:latin typeface="Aptos"/>
              </a:rPr>
              <a:t>Useful for named parts; weak on arrows and spatial meaning.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53712" y="2322576"/>
            <a:ext cx="3081528" cy="34655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09744" y="2587752"/>
            <a:ext cx="320040" cy="320040"/>
          </a:xfrm>
          <a:prstGeom prst="ellipse">
            <a:avLst/>
          </a:prstGeom>
          <a:solidFill>
            <a:srgbClr val="397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85232" y="2624328"/>
            <a:ext cx="20391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397C6B"/>
                </a:solidFill>
                <a:latin typeface="Aptos"/>
              </a:rPr>
              <a:t>02  DESCRIBE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4" y="312724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8232B"/>
                </a:solidFill>
                <a:latin typeface="Aptos Display"/>
              </a:rPr>
              <a:t>Generated caption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82896" y="3639312"/>
            <a:ext cx="2487168" cy="530352"/>
          </a:xfrm>
          <a:prstGeom prst="roundRect">
            <a:avLst>
              <a:gd name="adj" fmla="val 12000"/>
            </a:avLst>
          </a:prstGeom>
          <a:solidFill>
            <a:srgbClr val="E6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8344" y="3785615"/>
            <a:ext cx="22128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18232B"/>
                </a:solidFill>
                <a:latin typeface="Aptos"/>
              </a:rPr>
              <a:t>A activates B, then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9744" y="4453128"/>
            <a:ext cx="254203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8232B"/>
                </a:solidFill>
                <a:latin typeface="Aptos"/>
              </a:rPr>
              <a:t>Translate visible structure into searchable prose.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9744" y="5111496"/>
            <a:ext cx="2578608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63727A"/>
                </a:solidFill>
                <a:latin typeface="Aptos"/>
              </a:rPr>
              <a:t>Useful for relationships; mark it generated and retain uncertainty.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57616" y="2322576"/>
            <a:ext cx="3081528" cy="34655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13648" y="2587752"/>
            <a:ext cx="320040" cy="320040"/>
          </a:xfrm>
          <a:prstGeom prst="ellipse">
            <a:avLst/>
          </a:prstGeom>
          <a:solidFill>
            <a:srgbClr val="A35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89136" y="2624328"/>
            <a:ext cx="20391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A35442"/>
                </a:solidFill>
                <a:latin typeface="Aptos"/>
              </a:rPr>
              <a:t>03  INSPECT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13648" y="312724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8232B"/>
                </a:solidFill>
                <a:latin typeface="Aptos Display"/>
              </a:rPr>
              <a:t>Page / figure image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3639312"/>
            <a:ext cx="987552" cy="530352"/>
          </a:xfrm>
          <a:prstGeom prst="roundRect">
            <a:avLst>
              <a:gd name="adj" fmla="val 12000"/>
            </a:avLst>
          </a:prstGeom>
          <a:solidFill>
            <a:srgbClr val="F7E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05672" y="3822191"/>
            <a:ext cx="74980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18232B"/>
                </a:solidFill>
                <a:latin typeface="Aptos"/>
              </a:rPr>
              <a:t>PAGE 12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93808" y="3639312"/>
            <a:ext cx="1280160" cy="530352"/>
          </a:xfrm>
          <a:prstGeom prst="roundRect">
            <a:avLst>
              <a:gd name="adj" fmla="val 12000"/>
            </a:avLst>
          </a:prstGeom>
          <a:solidFill>
            <a:srgbClr val="F1E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51008" y="3758184"/>
            <a:ext cx="274320" cy="274320"/>
          </a:xfrm>
          <a:prstGeom prst="ellipse">
            <a:avLst/>
          </a:prstGeom>
          <a:solidFill>
            <a:srgbClr val="A35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13648" y="4453128"/>
            <a:ext cx="2542032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18232B"/>
                </a:solidFill>
                <a:latin typeface="Aptos"/>
              </a:rPr>
              <a:t>Show the source visual alongside its citation.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13648" y="5111496"/>
            <a:ext cx="2578608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63727A"/>
                </a:solidFill>
                <a:latin typeface="Aptos"/>
              </a:rPr>
              <a:t>Useful for verification and questions that need visual reasoning.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5980176"/>
            <a:ext cx="10689336" cy="274320"/>
          </a:xfrm>
          <a:prstGeom prst="roundRect">
            <a:avLst>
              <a:gd name="adj" fmla="val 12000"/>
            </a:avLst>
          </a:prstGeom>
          <a:solidFill>
            <a:srgbClr val="E7E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" y="6044184"/>
            <a:ext cx="10149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18232B"/>
                </a:solidFill>
                <a:latin typeface="Aptos"/>
              </a:rPr>
              <a:t>PROVENANCE RULE   Source text ≠ OCR labels ≠ model-generated description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58368" y="6473952"/>
            <a:ext cx="10872216" cy="0"/>
          </a:xfrm>
          <a:prstGeom prst="line">
            <a:avLst/>
          </a:prstGeom>
          <a:ln w="8255">
            <a:solidFill>
              <a:srgbClr val="B6B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67512" y="6528816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63727A"/>
                </a:solidFill>
                <a:latin typeface="Aptos"/>
              </a:rPr>
              <a:t>STUDY RAG  /  CONCEPT + ROADMAP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8232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CE0C1"/>
                </a:solidFill>
                <a:latin typeface="Aptos"/>
              </a:rPr>
              <a:t>06  /  BUILD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7899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5F2EA"/>
                </a:solidFill>
                <a:latin typeface="Aptos Display"/>
              </a:rPr>
              <a:t>Ship the simplest useful visual RAG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44752"/>
            <a:ext cx="10698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1A2AA"/>
                </a:solidFill>
                <a:latin typeface="Aptos"/>
              </a:rPr>
              <a:t>Prove each layer against real course questions before adding model complexity.</a:t>
            </a:r>
          </a:p>
        </p:txBody>
      </p:sp>
      <p:sp>
        <p:nvSpPr>
          <p:cNvPr id="5" name="Oval 4"/>
          <p:cNvSpPr/>
          <p:nvPr/>
        </p:nvSpPr>
        <p:spPr>
          <a:xfrm>
            <a:off x="841248" y="2267712"/>
            <a:ext cx="384048" cy="384048"/>
          </a:xfrm>
          <a:prstGeom prst="ellipse">
            <a:avLst/>
          </a:prstGeom>
          <a:solidFill>
            <a:srgbClr val="82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368296"/>
            <a:ext cx="18288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01923"/>
                </a:solidFill>
                <a:latin typeface="Aptos"/>
              </a:rP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33271" y="2688336"/>
            <a:ext cx="0" cy="384048"/>
          </a:xfrm>
          <a:prstGeom prst="line">
            <a:avLst/>
          </a:prstGeom>
          <a:ln w="13970">
            <a:solidFill>
              <a:srgbClr val="4256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508760" y="2221991"/>
            <a:ext cx="13898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82B6FF"/>
                </a:solidFill>
                <a:latin typeface="Aptos"/>
              </a:rP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2928" y="2176272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5F2EA"/>
                </a:solidFill>
                <a:latin typeface="Aptos Display"/>
              </a:rPr>
              <a:t>Corpus + query 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2194560"/>
            <a:ext cx="587044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CAD5D5"/>
                </a:solidFill>
                <a:latin typeface="Aptos"/>
              </a:rPr>
              <a:t>Record what fails today. Include text, tables, labeled diagrams, and scans if they occur.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08760" y="2907791"/>
            <a:ext cx="9738360" cy="0"/>
          </a:xfrm>
          <a:prstGeom prst="line">
            <a:avLst/>
          </a:prstGeom>
          <a:ln w="8255">
            <a:solidFill>
              <a:srgbClr val="2A3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41248" y="3236976"/>
            <a:ext cx="384048" cy="384048"/>
          </a:xfrm>
          <a:prstGeom prst="ellipse">
            <a:avLst/>
          </a:prstGeom>
          <a:solidFill>
            <a:srgbClr val="5CE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337560"/>
            <a:ext cx="18288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01923"/>
                </a:solidFill>
                <a:latin typeface="Aptos"/>
              </a:rPr>
              <a:t>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33271" y="3657600"/>
            <a:ext cx="0" cy="384048"/>
          </a:xfrm>
          <a:prstGeom prst="line">
            <a:avLst/>
          </a:prstGeom>
          <a:ln w="13970">
            <a:solidFill>
              <a:srgbClr val="4256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508760" y="3191256"/>
            <a:ext cx="13898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CE0C1"/>
                </a:solidFill>
                <a:latin typeface="Aptos"/>
              </a:rPr>
              <a:t>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8" y="3145536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5F2EA"/>
                </a:solidFill>
                <a:latin typeface="Aptos Display"/>
              </a:rPr>
              <a:t>Parser + page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3163824"/>
            <a:ext cx="587044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CAD5D5"/>
                </a:solidFill>
                <a:latin typeface="Aptos"/>
              </a:rPr>
              <a:t>Adopt a structured parser. Preserve headings, blocks, tables, pages, and figure assets.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508760" y="3877056"/>
            <a:ext cx="9738360" cy="0"/>
          </a:xfrm>
          <a:prstGeom prst="line">
            <a:avLst/>
          </a:prstGeom>
          <a:ln w="8255">
            <a:solidFill>
              <a:srgbClr val="2A3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41248" y="4206240"/>
            <a:ext cx="384048" cy="384048"/>
          </a:xfrm>
          <a:prstGeom prst="ellipse">
            <a:avLst/>
          </a:prstGeom>
          <a:solidFill>
            <a:srgbClr val="F3C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4306824"/>
            <a:ext cx="18288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01923"/>
                </a:solidFill>
                <a:latin typeface="Aptos"/>
              </a:rPr>
              <a:t>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33271" y="4626864"/>
            <a:ext cx="0" cy="384048"/>
          </a:xfrm>
          <a:prstGeom prst="line">
            <a:avLst/>
          </a:prstGeom>
          <a:ln w="13970">
            <a:solidFill>
              <a:srgbClr val="4256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508760" y="4160520"/>
            <a:ext cx="13898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3C76A"/>
                </a:solidFill>
                <a:latin typeface="Aptos"/>
              </a:rPr>
              <a:t>DESCRIBE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2928" y="4114800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5F2EA"/>
                </a:solidFill>
                <a:latin typeface="Aptos Display"/>
              </a:rPr>
              <a:t>Figure enrichment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4133088"/>
            <a:ext cx="587044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CAD5D5"/>
                </a:solidFill>
                <a:latin typeface="Aptos"/>
              </a:rPr>
              <a:t>Add optional OCR and captions; track provenance and cache unchanged outputs.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508760" y="4846320"/>
            <a:ext cx="9738360" cy="0"/>
          </a:xfrm>
          <a:prstGeom prst="line">
            <a:avLst/>
          </a:prstGeom>
          <a:ln w="8255">
            <a:solidFill>
              <a:srgbClr val="2A3B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41248" y="5175504"/>
            <a:ext cx="384048" cy="384048"/>
          </a:xfrm>
          <a:prstGeom prst="ellipse">
            <a:avLst/>
          </a:prstGeom>
          <a:solidFill>
            <a:srgbClr val="FF7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5276088"/>
            <a:ext cx="18288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01923"/>
                </a:solidFill>
                <a:latin typeface="Apto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129784"/>
            <a:ext cx="13898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F795F"/>
                </a:solidFill>
                <a:latin typeface="Aptos"/>
              </a:rPr>
              <a:t>RETRIEVE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52928" y="5084064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5F2EA"/>
                </a:solidFill>
                <a:latin typeface="Aptos Display"/>
              </a:rPr>
              <a:t>Evidence bundle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5102352"/>
            <a:ext cx="5870448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CAD5D5"/>
                </a:solidFill>
                <a:latin typeface="Aptos"/>
              </a:rPr>
              <a:t>Return text + figure hits with page citations and a viewable source reference.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08760" y="6108192"/>
            <a:ext cx="9738360" cy="228600"/>
          </a:xfrm>
          <a:prstGeom prst="roundRect">
            <a:avLst>
              <a:gd name="adj" fmla="val 12000"/>
            </a:avLst>
          </a:prstGeom>
          <a:solidFill>
            <a:srgbClr val="263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37360" y="6163056"/>
            <a:ext cx="9235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5CE0C1"/>
                </a:solidFill>
                <a:latin typeface="Aptos"/>
              </a:rPr>
              <a:t>OPTIONAL EXPERIMENT  /  Add ColPali-style page retrieval only if captioned retrieval still misses visual questions.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8368" y="6473952"/>
            <a:ext cx="10872216" cy="0"/>
          </a:xfrm>
          <a:prstGeom prst="line">
            <a:avLst/>
          </a:prstGeom>
          <a:ln w="8255">
            <a:solidFill>
              <a:srgbClr val="516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67512" y="6528816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91A2AA"/>
                </a:solidFill>
                <a:latin typeface="Aptos"/>
              </a:rPr>
              <a:t>STUDY RAG  /  CONCEPT + ROADMAP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CE0C1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CE0C1"/>
                </a:solidFill>
                <a:latin typeface="Aptos"/>
              </a:rPr>
              <a:t>07  /  PROOF OF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7899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8232B"/>
                </a:solidFill>
                <a:latin typeface="Aptos Display"/>
              </a:rPr>
              <a:t>Measure whether the right page shows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44752"/>
            <a:ext cx="10698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3727A"/>
                </a:solidFill>
                <a:latin typeface="Aptos"/>
              </a:rPr>
              <a:t>A retrieval system earns trust by surfacing inspectable evidence, including when it has no answer.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2240280"/>
            <a:ext cx="6839712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2514600"/>
            <a:ext cx="6080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63727A"/>
                </a:solidFill>
                <a:latin typeface="Aptos"/>
              </a:rPr>
              <a:t>QUESTION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88736" y="2514600"/>
            <a:ext cx="12161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63727A"/>
                </a:solidFill>
                <a:latin typeface="Aptos"/>
              </a:rPr>
              <a:t>EXPECTED HIT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33271" y="3346704"/>
            <a:ext cx="6227065" cy="0"/>
          </a:xfrm>
          <a:prstGeom prst="line">
            <a:avLst/>
          </a:prstGeom>
          <a:ln w="8890">
            <a:solidFill>
              <a:srgbClr val="E5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33271" y="2953512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8232B"/>
                </a:solidFill>
                <a:latin typeface="Aptos"/>
              </a:rPr>
              <a:t>Paragraph 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5112" y="2953512"/>
            <a:ext cx="27797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397C6B"/>
                </a:solidFill>
                <a:latin typeface="Aptos"/>
              </a:rPr>
              <a:t>Text block · page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33271" y="3867911"/>
            <a:ext cx="6227065" cy="0"/>
          </a:xfrm>
          <a:prstGeom prst="line">
            <a:avLst/>
          </a:prstGeom>
          <a:ln w="8890">
            <a:solidFill>
              <a:srgbClr val="E5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33271" y="3474720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8232B"/>
                </a:solidFill>
                <a:latin typeface="Aptos"/>
              </a:rPr>
              <a:t>Table lookup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3474720"/>
            <a:ext cx="27797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397C6B"/>
                </a:solidFill>
                <a:latin typeface="Aptos"/>
              </a:rPr>
              <a:t>Table · page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33271" y="4389120"/>
            <a:ext cx="6227065" cy="0"/>
          </a:xfrm>
          <a:prstGeom prst="line">
            <a:avLst/>
          </a:prstGeom>
          <a:ln w="8890">
            <a:solidFill>
              <a:srgbClr val="E5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33271" y="3995928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8232B"/>
                </a:solidFill>
                <a:latin typeface="Aptos"/>
              </a:rPr>
              <a:t>Diagram label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5112" y="3995928"/>
            <a:ext cx="27797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397C6B"/>
                </a:solidFill>
                <a:latin typeface="Aptos"/>
              </a:rPr>
              <a:t>Figure record · page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33271" y="4910327"/>
            <a:ext cx="6227065" cy="0"/>
          </a:xfrm>
          <a:prstGeom prst="line">
            <a:avLst/>
          </a:prstGeom>
          <a:ln w="8890">
            <a:solidFill>
              <a:srgbClr val="E5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33271" y="4517136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8232B"/>
                </a:solidFill>
                <a:latin typeface="Aptos"/>
              </a:rPr>
              <a:t>Arrow / sequence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4517136"/>
            <a:ext cx="27797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397C6B"/>
                </a:solidFill>
                <a:latin typeface="Aptos"/>
              </a:rPr>
              <a:t>Description + image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33271" y="5431536"/>
            <a:ext cx="6227065" cy="0"/>
          </a:xfrm>
          <a:prstGeom prst="line">
            <a:avLst/>
          </a:prstGeom>
          <a:ln w="8890">
            <a:solidFill>
              <a:srgbClr val="E5E0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33271" y="5038344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18232B"/>
                </a:solidFill>
                <a:latin typeface="Aptos"/>
              </a:rPr>
              <a:t>No answer in 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5112" y="5038344"/>
            <a:ext cx="27797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A35442"/>
                </a:solidFill>
                <a:latin typeface="Aptos"/>
              </a:rPr>
              <a:t>No strong 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36992" y="2240280"/>
            <a:ext cx="3483864" cy="1627632"/>
          </a:xfrm>
          <a:prstGeom prst="roundRect">
            <a:avLst>
              <a:gd name="adj" fmla="val 12000"/>
            </a:avLst>
          </a:prstGeom>
          <a:solidFill>
            <a:srgbClr val="10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0456" y="25237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CE0C1"/>
                </a:solidFill>
                <a:latin typeface="Aptos"/>
              </a:rPr>
              <a:t>TRACK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0456" y="2880360"/>
            <a:ext cx="27706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700" b="1" i="0">
                <a:solidFill>
                  <a:srgbClr val="F5F2EA"/>
                </a:solidFill>
                <a:latin typeface="Aptos Display"/>
              </a:rPr>
              <a:t>Right source/page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700" b="1" i="0">
                <a:solidFill>
                  <a:srgbClr val="F5F2EA"/>
                </a:solidFill>
                <a:latin typeface="Aptos Display"/>
              </a:rPr>
              <a:t>in top results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6992" y="4105656"/>
            <a:ext cx="3483864" cy="1746504"/>
          </a:xfrm>
          <a:prstGeom prst="roundRect">
            <a:avLst>
              <a:gd name="adj" fmla="val 12000"/>
            </a:avLst>
          </a:prstGeom>
          <a:solidFill>
            <a:srgbClr val="DDE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0456" y="438912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397C6B"/>
                </a:solidFill>
                <a:latin typeface="Aptos"/>
              </a:rPr>
              <a:t>ALSO INSPECT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0456" y="4727448"/>
            <a:ext cx="274320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18232B"/>
                </a:solidFill>
                <a:latin typeface="Aptos Display"/>
              </a:rPr>
              <a:t>Evidence supports claim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18232B"/>
                </a:solidFill>
                <a:latin typeface="Aptos Display"/>
              </a:rPr>
              <a:t>Generated text is labeled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18232B"/>
                </a:solidFill>
                <a:latin typeface="Aptos Display"/>
              </a:rPr>
              <a:t>No-answer stays no-answer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6080760"/>
            <a:ext cx="10241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63727A"/>
                </a:solidFill>
                <a:latin typeface="Aptos"/>
              </a:rPr>
              <a:t>NO INVENTED METRICS  /  Establish the baseline first; compare against the same questions after each phase.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58368" y="6473952"/>
            <a:ext cx="10872216" cy="0"/>
          </a:xfrm>
          <a:prstGeom prst="line">
            <a:avLst/>
          </a:prstGeom>
          <a:ln w="8255">
            <a:solidFill>
              <a:srgbClr val="B6B2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67512" y="6528816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63727A"/>
                </a:solidFill>
                <a:latin typeface="Aptos"/>
              </a:rPr>
              <a:t>STUDY RAG  /  CONCEPT + ROADMAP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18232B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CE0C1"/>
                </a:solidFill>
                <a:latin typeface="Aptos"/>
              </a:rPr>
              <a:t>08  /  DESIGN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7899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5F2EA"/>
                </a:solidFill>
                <a:latin typeface="Aptos Display"/>
              </a:rPr>
              <a:t>Useful, local, and honest about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44752"/>
            <a:ext cx="10698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91A2AA"/>
                </a:solidFill>
                <a:latin typeface="Aptos"/>
              </a:rPr>
              <a:t>The goal is not a bigger model. It is a better path from question to the page that supports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2240280"/>
            <a:ext cx="5074920" cy="1188720"/>
          </a:xfrm>
          <a:prstGeom prst="roundRect">
            <a:avLst>
              <a:gd name="adj" fmla="val 12000"/>
            </a:avLst>
          </a:prstGeom>
          <a:solidFill>
            <a:srgbClr val="1D2D3A"/>
          </a:solidFill>
          <a:ln w="12700">
            <a:solidFill>
              <a:srgbClr val="243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8407" y="2496312"/>
            <a:ext cx="73152" cy="676656"/>
          </a:xfrm>
          <a:prstGeom prst="rect">
            <a:avLst/>
          </a:prstGeom>
          <a:solidFill>
            <a:srgbClr val="5CE0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46888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CE0C1"/>
                </a:solidFill>
                <a:latin typeface="Aptos"/>
              </a:rPr>
              <a:t>LOCAL BY DEFAULT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770632"/>
            <a:ext cx="42245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00" b="0" i="0">
                <a:solidFill>
                  <a:srgbClr val="F5F2EA"/>
                </a:solidFill>
                <a:latin typeface="Aptos"/>
              </a:rPr>
              <a:t>Keep course files and derived assets on the user's machine unless remote processing is explicitly enabled.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2240280"/>
            <a:ext cx="5074920" cy="1188720"/>
          </a:xfrm>
          <a:prstGeom prst="roundRect">
            <a:avLst>
              <a:gd name="adj" fmla="val 12000"/>
            </a:avLst>
          </a:prstGeom>
          <a:solidFill>
            <a:srgbClr val="1D2D3A"/>
          </a:solidFill>
          <a:ln w="12700">
            <a:solidFill>
              <a:srgbClr val="243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64808" y="2496312"/>
            <a:ext cx="73152" cy="676656"/>
          </a:xfrm>
          <a:prstGeom prst="rect">
            <a:avLst/>
          </a:prstGeom>
          <a:solidFill>
            <a:srgbClr val="82B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468880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82B6FF"/>
                </a:solidFill>
                <a:latin typeface="Aptos"/>
              </a:rPr>
              <a:t>SOURCE BEFORE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770632"/>
            <a:ext cx="42245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00" b="0" i="0">
                <a:solidFill>
                  <a:srgbClr val="F5F2EA"/>
                </a:solidFill>
                <a:latin typeface="Aptos"/>
              </a:rPr>
              <a:t>Always preserve the original page/figure. Captions help search; they do not replace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749039"/>
            <a:ext cx="5074920" cy="1188720"/>
          </a:xfrm>
          <a:prstGeom prst="roundRect">
            <a:avLst>
              <a:gd name="adj" fmla="val 12000"/>
            </a:avLst>
          </a:prstGeom>
          <a:solidFill>
            <a:srgbClr val="1D2D3A"/>
          </a:solidFill>
          <a:ln w="12700">
            <a:solidFill>
              <a:srgbClr val="243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7" y="4005072"/>
            <a:ext cx="73152" cy="676656"/>
          </a:xfrm>
          <a:prstGeom prst="rect">
            <a:avLst/>
          </a:prstGeom>
          <a:solidFill>
            <a:srgbClr val="F3C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977639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3C76A"/>
                </a:solidFill>
                <a:latin typeface="Aptos"/>
              </a:rPr>
              <a:t>PROVENANCE THROUGHOUT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279392"/>
            <a:ext cx="42245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00" b="0" i="0">
                <a:solidFill>
                  <a:srgbClr val="F5F2EA"/>
                </a:solidFill>
                <a:latin typeface="Aptos"/>
              </a:rPr>
              <a:t>Carry source, page, content type, model, and parser versions from ingestion to answer.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3749039"/>
            <a:ext cx="5074920" cy="1188720"/>
          </a:xfrm>
          <a:prstGeom prst="roundRect">
            <a:avLst>
              <a:gd name="adj" fmla="val 12000"/>
            </a:avLst>
          </a:prstGeom>
          <a:solidFill>
            <a:srgbClr val="1D2D3A"/>
          </a:solidFill>
          <a:ln w="12700">
            <a:solidFill>
              <a:srgbClr val="243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64808" y="4005072"/>
            <a:ext cx="73152" cy="676656"/>
          </a:xfrm>
          <a:prstGeom prst="rect">
            <a:avLst/>
          </a:prstGeom>
          <a:solidFill>
            <a:srgbClr val="FF79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3977639"/>
            <a:ext cx="4206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FF795F"/>
                </a:solidFill>
                <a:latin typeface="Aptos"/>
              </a:rPr>
              <a:t>COMPLEXITY BY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279392"/>
            <a:ext cx="422452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00" b="0" i="0">
                <a:solidFill>
                  <a:srgbClr val="F5F2EA"/>
                </a:solidFill>
                <a:latin typeface="Aptos"/>
              </a:rPr>
              <a:t>Start with structure + captions. Add visual retrieval only when measured misses justify 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486400"/>
            <a:ext cx="10561320" cy="576072"/>
          </a:xfrm>
          <a:prstGeom prst="roundRect">
            <a:avLst>
              <a:gd name="adj" fmla="val 12000"/>
            </a:avLst>
          </a:prstGeom>
          <a:solidFill>
            <a:srgbClr val="203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5687568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5CE0C1"/>
                </a:solidFill>
                <a:latin typeface="Aptos"/>
              </a:rPr>
              <a:t>NEXT  /  Run Phase 0 on a handful of real lecture PDFs — then build the page-aware parser slice.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6473952"/>
            <a:ext cx="10872216" cy="0"/>
          </a:xfrm>
          <a:prstGeom prst="line">
            <a:avLst/>
          </a:prstGeom>
          <a:ln w="8255">
            <a:solidFill>
              <a:srgbClr val="516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67512" y="6528816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91A2AA"/>
                </a:solidFill>
                <a:latin typeface="Aptos"/>
              </a:rPr>
              <a:t>STUDY RAG  /  CONCEPT + ROADMAP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105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5CE0C1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 RAG — From Course Files to Visual Evidence</dc:title>
  <dc:subject>Project overview and roadmap for diagram-aware local RAG</dc:subject>
  <dc:creator>Study RAG project</dc:creator>
  <cp:keywords>RAG, study materials, diagrams, retrieval, roadmap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